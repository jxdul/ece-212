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71" r:id="rId5"/>
    <p:sldId id="272" r:id="rId6"/>
    <p:sldId id="259" r:id="rId7"/>
    <p:sldId id="274" r:id="rId8"/>
    <p:sldId id="275" r:id="rId9"/>
    <p:sldId id="276" r:id="rId10"/>
    <p:sldId id="277" r:id="rId11"/>
    <p:sldId id="278" r:id="rId12"/>
    <p:sldId id="279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94660"/>
  </p:normalViewPr>
  <p:slideViewPr>
    <p:cSldViewPr snapToGrid="0">
      <p:cViewPr>
        <p:scale>
          <a:sx n="73" d="100"/>
          <a:sy n="73" d="100"/>
        </p:scale>
        <p:origin x="-198" y="3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9D54-60F1-6710-F104-23058E583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DC3907-3194-12DA-957E-5B7297070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AC2E-102C-DD5E-9069-919697382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BC9D-9487-FF83-A1A9-654F7E7D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BF85D-F57D-917A-9D59-61D98786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6479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E96C4-0B94-673B-6F9F-47309550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ED0CB-4478-D6A5-5DCA-9454E5353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A13E4-14DC-348B-3F94-81FCBAAB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E0C35-D2E4-755F-A135-57228C0A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F30C9-6A6C-7899-3BCF-36A5F23B2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1512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E7917-4FF6-0DE7-286B-8E60FCC2F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CB9DE-B55C-D2BF-9863-5FF6B12F8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9DFA8-C4D7-0932-6D39-8BE9BAF1A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77BB8-92AD-2F90-931C-D1E9934D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48748-2695-F413-4661-4D49C306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8340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BEA8-9C86-95CD-8C75-ED52BF7AD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F042F-746B-3BE0-04F9-12BE8964C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4C37B0-6889-457B-8A19-FABC75CF9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0F3D5-ECA0-C262-9794-707DDA12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AFEA7-07D8-9F6C-C3B6-79B5FFBA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1A44C-6633-E55F-13C8-AA8F7C8A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507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A54F-8F40-C71B-C7A1-43A3C8C74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87DAE-1D0B-D008-11DA-8E9A33375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8F257-1127-0125-EC53-C98E52D46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08805-1B46-057A-74DE-671A94328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5A4A9E-821D-0555-6F3D-1A7CB7D9E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3E7C6-4B3A-5898-7849-2BE4DDF3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16C5B5-EAF4-0879-15AE-8C1BBE83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85CFE-649E-5C80-ACBE-30308B16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1191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5355-8FA9-A0E8-5207-45B7A2198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B92FC-0720-B101-016F-6469CD0F8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12A46-AC1B-C5A7-5711-E437806AA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783EC5-4676-A9AF-853B-B6199F49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385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A077B-CAC1-5C23-3D8F-862F2ABB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E3688-F9A4-A6F8-2A06-13E8D349A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E42FF-E6B3-FF62-A0E2-C261EA37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9577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F7222-A6B2-3BBC-5633-ED12DD22D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DFED3-D61E-CE51-6365-F8FB3CB54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DC77B-96CB-24CD-5EC5-ED6A4BC6AE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89F8D-445C-656A-D8DF-4474B8959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D31B1-7260-0A7D-3A98-D65D36E39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FF90D-381A-0966-7A8A-99C3CE6D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242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8917B-4E89-1649-F0DB-B6A2641F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B4EE30-2530-B204-F178-F6C352727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57FF8-EEC3-DFC5-B8F9-13156CFBB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C990A-48C1-B7B6-BE25-919E038B7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7C337-DBA7-7C07-3C8F-6B7E51AD9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19D13-8C3C-D67D-5E96-B248D88D7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4246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55DD3-22E9-5109-6305-1940FE678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D33D5-DF72-2840-BFE9-B40F9C2E8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82CD4-AA2D-DB3C-C24B-76F98120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15263-57C0-D4AB-3D0B-24D942C6B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A05EC-C2E7-3283-7E6D-2331CD3D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1908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220BE2-AEEE-CE59-8628-BFD513DF8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7D6F8-FCBA-6FB9-4C6A-210E1B22E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A2689-79F5-F83B-E027-738B4575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9879C-891A-4992-BDA7-2A548F0EA948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D90CC-3E03-DFBE-11E8-FD9BE6AF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B293C-7162-8DFE-229E-860BDDF28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9467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016C8C-6DA6-24D7-E4F0-7E5C4AB90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4AE23-E841-D677-73C5-ED5BCC66D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D17A6-67B2-E0CB-B5C2-AC182BC6A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9879C-891A-4992-BDA7-2A548F0EA948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D9D4D-FA0F-1402-9E1A-8CD8DF4B5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8D90E-B1AA-F257-C80C-FC4122C839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965AF-C24D-4C76-B9B3-B119B27F6B7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7066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E8F18-7B31-2DA6-2FA4-8097DA7A88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ECE 212 Lab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40DDAD-E39C-08F2-58C0-48AA59F2AB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Khashayar Hashemi</a:t>
            </a:r>
          </a:p>
        </p:txBody>
      </p:sp>
    </p:spTree>
    <p:extLst>
      <p:ext uri="{BB962C8B-B14F-4D97-AF65-F5344CB8AC3E}">
        <p14:creationId xmlns:p14="http://schemas.microsoft.com/office/powerpoint/2010/main" val="3356953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311A-5C65-DFA8-AE2A-0B4D67FD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30C74-4BF5-AE84-5952-C2388BA64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get familiar with subroutines and functions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work with stack 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how to pass parameters between subroutines</a:t>
            </a: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162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B721-BC54-1A85-8D22-D63CCDEB4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Procedure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7CBF49-E85C-7092-E811-246331E9E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lab, you will implement three subroutines: 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WelcomePrompt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Sort, and Display.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WelcomePrompt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subroutine asks user for some inputs.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Sort subroutine sorts the entries provided through 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WelcomePrompt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Display subroutine displays the final sorted results on MITTTY.</a:t>
            </a: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85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47904-CBB6-CDB4-E208-27B4A31D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DD9A-34C4-611A-CE04-98C9403A8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Message on MITTTY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59239-BED6-F056-A67E-53B2223CA0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can write messages on MITTTY by branching to subroutines “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printf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 and “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457200" lvl="1" indent="0">
                  <a:buNone/>
                </a:pP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r0, =Hello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 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printf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Prints the string whose address is in register r0.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 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Generates a carriage return. 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.data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Hello: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.string “Hello world!”</a:t>
                </a: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859239-BED6-F056-A67E-53B2223CA0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801" r="-464" b="-56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927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49107-C190-51FF-34D9-7E2EA4EA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9F08F-BCC9-763B-F739-DD9B8ED6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Inputs on MITTTY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D2A59D-7DEB-3F75-CBD6-C350B94215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can prompt the user to enter a number on MITTTY by branching to “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getstring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You can show the entered number on MITTTY by branching to “value”.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 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getstring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Asks user for a number and stores it in register r0.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Mov r4, r0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Save r0 in another register (r4). 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 value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prints the decimal value in register r0 on MITTTY.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 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</a:t>
                </a: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D2A59D-7DEB-3F75-CBD6-C350B94215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2170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C72A-02D1-10A7-D073-9EE7A363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 (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WelcomePrompt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EBA3DE-B71C-FB73-CA33-F38538E578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part, you will write prompts to ask the user for inputs.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First, you will ask for the number of entries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3≤</m:t>
                    </m:r>
                    <m:r>
                      <a:rPr lang="en-CA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CA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≤10)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Next you will ask for lower and upper limits for entries. 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that, ask for the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entries one by one.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last entry should have its own separate prompt.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any invalid input, the corresponding error message should be displayed.</a:t>
                </a:r>
              </a:p>
              <a:p>
                <a:pPr lvl="1"/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top of the stack 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should contain the number of entries 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CA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this subroutine is finished.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input entries should be stored at memory location starting at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0x20001000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EBA3DE-B71C-FB73-CA33-F38538E57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138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27BED-F872-9D7E-B673-519FA0F0A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AA52F-6F11-88AF-00B8-624B85CD1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Stack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39E858-E747-91A6-06E3-5DC8DF1C9D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R13 or 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stack pointer and contains the memory address of the top of the stack.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two important stack functions are “push” and “pop”.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“Push” decrements the stack pointer and stores a value on top of the stack.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“Pop” loads a value from the top of the stack and increments the stack pointer.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Push {r2}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equivalent to str r2, [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#-4]!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Pop {r3}</a:t>
                </a:r>
                <a:r>
                  <a:rPr lang="en-CA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equivalent to 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r3, [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], #4</a:t>
                </a:r>
              </a:p>
              <a:p>
                <a:pPr marL="457200" lvl="1" indent="0">
                  <a:buNone/>
                </a:pP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 </a:t>
                </a:r>
              </a:p>
              <a:p>
                <a:pPr marL="457200" lvl="1" indent="0">
                  <a:buNone/>
                </a:pP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39E858-E747-91A6-06E3-5DC8DF1C9D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108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213DB-ED4A-CDAD-25C6-D71FD4D21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45AC2-DD5F-42C1-D541-806CB57BC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with Stack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C8534A-AC3C-EE53-2517-28D682D47B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a subroutine is called, the return address is stored in link register (LR) which is r14. 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another subroutine (for example 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printf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called within the current subroutine, the initial return address will be overwritten and your program can not go back to where it was called.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avoid this, at the beginning of each subroutine, we save the return address by pushing it on stack and we pop it at the end of the subroutine.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Subroutine1: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Push {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CA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Stores the return address on top of the stack.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Mov r3, r2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 Subroutine2 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r14 is overwritten here.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Pop {pc}</a:t>
                </a:r>
                <a:r>
                  <a:rPr lang="en-CA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sets program counter (r15) to the return address.</a:t>
                </a:r>
              </a:p>
              <a:p>
                <a:pPr marL="457200" lvl="1" indent="0">
                  <a:buNone/>
                </a:pP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C8534A-AC3C-EE53-2517-28D682D47B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01" r="-5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0378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CA669-5016-58A1-4E33-A43FC4AB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8DEB-AFB4-E1F2-8991-FAEB550D7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a value on top of the stack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BC8EE-2464-4A43-723D-CB152EBA84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 Suppose the value in register r4 should be passed on the stack.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Subroutine1: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Push {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CA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Stores the return address on top of the stack.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Push {r0-r12}</a:t>
                </a:r>
                <a:r>
                  <a:rPr lang="en-CA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Preserves the values in registers r0 to r12.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 r4, [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#56]</a:t>
                </a:r>
                <a:r>
                  <a:rPr lang="en-CA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Pushed 14 times at the beginning so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14×4=56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Pop {r0-r12}</a:t>
                </a:r>
                <a:r>
                  <a:rPr lang="en-CA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Set registers r0 to r12 back to their original values.</a:t>
                </a:r>
              </a:p>
              <a:p>
                <a:pPr marL="457200" lvl="1" indent="0">
                  <a:buNone/>
                </a:pP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Pop {pc}</a:t>
                </a:r>
                <a:r>
                  <a:rPr lang="en-CA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sets program counter (r15) to the return address.</a:t>
                </a:r>
              </a:p>
              <a:p>
                <a:pPr marL="457200" lvl="1" indent="0">
                  <a:buNone/>
                </a:pP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EBC8EE-2464-4A43-723D-CB152EBA84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7518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780E4-4518-6160-753D-2A302C23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E63A4-D26B-22B2-57B8-B64D28945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2 (Sort)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BFA061-E25E-31E6-3810-B2FA87B89E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430274" cy="1925058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number of entries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passed through the stack from </a:t>
                </a:r>
                <a:r>
                  <a:rPr lang="en-CA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WelcomePrompt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R0 contains the starting memory location of entries.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(Don’t assume it to be 0x20001000!)</a:t>
                </a: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Bubble sort for sorting the entries.</a:t>
                </a:r>
              </a:p>
              <a:p>
                <a:pPr lvl="1"/>
                <a:endParaRPr lang="en-CA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BFA061-E25E-31E6-3810-B2FA87B89E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430274" cy="1925058"/>
              </a:xfrm>
              <a:blipFill>
                <a:blip r:embed="rId2"/>
                <a:stretch>
                  <a:fillRect t="-443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7931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CCFA-59C6-825C-F1DA-41DF2E111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3B57-6A10-FD28-0B47-A8BD8CD88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5332B-369F-DF11-9154-514E3C998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30274" cy="1925058"/>
          </a:xfrm>
        </p:spPr>
        <p:txBody>
          <a:bodyPr>
            <a:normAutofit/>
          </a:bodyPr>
          <a:lstStyle/>
          <a:p>
            <a:pPr lvl="1"/>
            <a:endParaRPr lang="en-C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AE67FF-6F88-2BEE-C0A4-43F09259A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524274"/>
              </p:ext>
            </p:extLst>
          </p:nvPr>
        </p:nvGraphicFramePr>
        <p:xfrm>
          <a:off x="2508363" y="1690688"/>
          <a:ext cx="132445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4450">
                  <a:extLst>
                    <a:ext uri="{9D8B030D-6E8A-4147-A177-3AD203B41FA5}">
                      <a16:colId xmlns:a16="http://schemas.microsoft.com/office/drawing/2014/main" val="1748286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0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12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123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39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84033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43E3C0-1D57-66FE-5BC5-84632F5FA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919438"/>
              </p:ext>
            </p:extLst>
          </p:nvPr>
        </p:nvGraphicFramePr>
        <p:xfrm>
          <a:off x="4388724" y="1690688"/>
          <a:ext cx="132445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4450">
                  <a:extLst>
                    <a:ext uri="{9D8B030D-6E8A-4147-A177-3AD203B41FA5}">
                      <a16:colId xmlns:a16="http://schemas.microsoft.com/office/drawing/2014/main" val="1748286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CA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60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CA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12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123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39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84033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5CC036-732C-7242-C405-0A10CBECB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7942"/>
              </p:ext>
            </p:extLst>
          </p:nvPr>
        </p:nvGraphicFramePr>
        <p:xfrm>
          <a:off x="301453" y="1690688"/>
          <a:ext cx="2206910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6910">
                  <a:extLst>
                    <a:ext uri="{9D8B030D-6E8A-4147-A177-3AD203B41FA5}">
                      <a16:colId xmlns:a16="http://schemas.microsoft.com/office/drawing/2014/main" val="1748286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0x20001000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0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0x20001004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12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0x20001008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123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0x2000100C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39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0x20001010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84033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6538F4-4B8A-F106-887B-969B2FAA4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156657"/>
              </p:ext>
            </p:extLst>
          </p:nvPr>
        </p:nvGraphicFramePr>
        <p:xfrm>
          <a:off x="6142693" y="1690688"/>
          <a:ext cx="132445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4450">
                  <a:extLst>
                    <a:ext uri="{9D8B030D-6E8A-4147-A177-3AD203B41FA5}">
                      <a16:colId xmlns:a16="http://schemas.microsoft.com/office/drawing/2014/main" val="1748286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0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C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12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C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123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39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8403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85E13E-3D58-BE06-B7F1-722860FC0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714656"/>
              </p:ext>
            </p:extLst>
          </p:nvPr>
        </p:nvGraphicFramePr>
        <p:xfrm>
          <a:off x="7916890" y="1690688"/>
          <a:ext cx="132445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4450">
                  <a:extLst>
                    <a:ext uri="{9D8B030D-6E8A-4147-A177-3AD203B41FA5}">
                      <a16:colId xmlns:a16="http://schemas.microsoft.com/office/drawing/2014/main" val="2410473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981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C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024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CA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757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CA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0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39821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29FB6CB-CABC-0C09-DC13-6342C00FB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845521"/>
              </p:ext>
            </p:extLst>
          </p:nvPr>
        </p:nvGraphicFramePr>
        <p:xfrm>
          <a:off x="9691087" y="1690688"/>
          <a:ext cx="132445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4450">
                  <a:extLst>
                    <a:ext uri="{9D8B030D-6E8A-4147-A177-3AD203B41FA5}">
                      <a16:colId xmlns:a16="http://schemas.microsoft.com/office/drawing/2014/main" val="2410473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981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C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024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C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757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CA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0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CA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398212"/>
                  </a:ext>
                </a:extLst>
              </a:tr>
            </a:tbl>
          </a:graphicData>
        </a:graphic>
      </p:graphicFrame>
      <p:sp>
        <p:nvSpPr>
          <p:cNvPr id="24" name="Arrow: Left-Up 23">
            <a:extLst>
              <a:ext uri="{FF2B5EF4-FFF2-40B4-BE49-F238E27FC236}">
                <a16:creationId xmlns:a16="http://schemas.microsoft.com/office/drawing/2014/main" id="{81C3CF92-D48B-AF7B-CC6C-70E844BA1FAB}"/>
              </a:ext>
            </a:extLst>
          </p:cNvPr>
          <p:cNvSpPr/>
          <p:nvPr/>
        </p:nvSpPr>
        <p:spPr>
          <a:xfrm rot="18900000">
            <a:off x="5451808" y="1822668"/>
            <a:ext cx="482278" cy="48227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5" name="Arrow: Left-Up 24">
            <a:extLst>
              <a:ext uri="{FF2B5EF4-FFF2-40B4-BE49-F238E27FC236}">
                <a16:creationId xmlns:a16="http://schemas.microsoft.com/office/drawing/2014/main" id="{13D93041-383F-C62A-5493-608899A1E060}"/>
              </a:ext>
            </a:extLst>
          </p:cNvPr>
          <p:cNvSpPr/>
          <p:nvPr/>
        </p:nvSpPr>
        <p:spPr>
          <a:xfrm rot="18900000">
            <a:off x="7226003" y="2205993"/>
            <a:ext cx="482278" cy="48227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6" name="Arrow: Left-Up 25">
            <a:extLst>
              <a:ext uri="{FF2B5EF4-FFF2-40B4-BE49-F238E27FC236}">
                <a16:creationId xmlns:a16="http://schemas.microsoft.com/office/drawing/2014/main" id="{A2F67703-B742-EC38-65F8-550B63FBF966}"/>
              </a:ext>
            </a:extLst>
          </p:cNvPr>
          <p:cNvSpPr/>
          <p:nvPr/>
        </p:nvSpPr>
        <p:spPr>
          <a:xfrm rot="18900000">
            <a:off x="9000201" y="2547015"/>
            <a:ext cx="482278" cy="48227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7" name="Arrow: Left-Up 26">
            <a:extLst>
              <a:ext uri="{FF2B5EF4-FFF2-40B4-BE49-F238E27FC236}">
                <a16:creationId xmlns:a16="http://schemas.microsoft.com/office/drawing/2014/main" id="{C8AC68E5-8734-65E8-A376-FFD74D0112B0}"/>
              </a:ext>
            </a:extLst>
          </p:cNvPr>
          <p:cNvSpPr/>
          <p:nvPr/>
        </p:nvSpPr>
        <p:spPr>
          <a:xfrm rot="18900000">
            <a:off x="10740675" y="2962727"/>
            <a:ext cx="482278" cy="48227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13BAA1A6-6401-4F9C-2873-FB51220FD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439620"/>
              </p:ext>
            </p:extLst>
          </p:nvPr>
        </p:nvGraphicFramePr>
        <p:xfrm>
          <a:off x="4422447" y="4166394"/>
          <a:ext cx="132445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4450">
                  <a:extLst>
                    <a:ext uri="{9D8B030D-6E8A-4147-A177-3AD203B41FA5}">
                      <a16:colId xmlns:a16="http://schemas.microsoft.com/office/drawing/2014/main" val="1748286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C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60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C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12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123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39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840339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3CD9796-6641-90BA-5E6E-1EE3AD7D5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061470"/>
              </p:ext>
            </p:extLst>
          </p:nvPr>
        </p:nvGraphicFramePr>
        <p:xfrm>
          <a:off x="6176416" y="4166394"/>
          <a:ext cx="132445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4450">
                  <a:extLst>
                    <a:ext uri="{9D8B030D-6E8A-4147-A177-3AD203B41FA5}">
                      <a16:colId xmlns:a16="http://schemas.microsoft.com/office/drawing/2014/main" val="1748286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0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C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12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C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123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39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840339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0E87132-174C-D410-E938-B30D3FF6D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887536"/>
              </p:ext>
            </p:extLst>
          </p:nvPr>
        </p:nvGraphicFramePr>
        <p:xfrm>
          <a:off x="7950613" y="4166394"/>
          <a:ext cx="132445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4450">
                  <a:extLst>
                    <a:ext uri="{9D8B030D-6E8A-4147-A177-3AD203B41FA5}">
                      <a16:colId xmlns:a16="http://schemas.microsoft.com/office/drawing/2014/main" val="2410473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981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C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024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CA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757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CA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0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398212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8D85ACD-00C9-C6CE-17A6-5C97F1756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588175"/>
              </p:ext>
            </p:extLst>
          </p:nvPr>
        </p:nvGraphicFramePr>
        <p:xfrm>
          <a:off x="9724810" y="4166394"/>
          <a:ext cx="132445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4450">
                  <a:extLst>
                    <a:ext uri="{9D8B030D-6E8A-4147-A177-3AD203B41FA5}">
                      <a16:colId xmlns:a16="http://schemas.microsoft.com/office/drawing/2014/main" val="2410473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981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C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024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CA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757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CA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0773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CA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398212"/>
                  </a:ext>
                </a:extLst>
              </a:tr>
            </a:tbl>
          </a:graphicData>
        </a:graphic>
      </p:graphicFrame>
      <p:sp>
        <p:nvSpPr>
          <p:cNvPr id="32" name="Arrow: Left-Up 31">
            <a:extLst>
              <a:ext uri="{FF2B5EF4-FFF2-40B4-BE49-F238E27FC236}">
                <a16:creationId xmlns:a16="http://schemas.microsoft.com/office/drawing/2014/main" id="{0E5A3581-89DD-316A-8D21-91891A161959}"/>
              </a:ext>
            </a:extLst>
          </p:cNvPr>
          <p:cNvSpPr/>
          <p:nvPr/>
        </p:nvSpPr>
        <p:spPr>
          <a:xfrm rot="18900000">
            <a:off x="5485531" y="4298374"/>
            <a:ext cx="482278" cy="48227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3" name="Arrow: Left-Up 32">
            <a:extLst>
              <a:ext uri="{FF2B5EF4-FFF2-40B4-BE49-F238E27FC236}">
                <a16:creationId xmlns:a16="http://schemas.microsoft.com/office/drawing/2014/main" id="{4BF14D83-DF9A-6047-D406-55051421F70F}"/>
              </a:ext>
            </a:extLst>
          </p:cNvPr>
          <p:cNvSpPr/>
          <p:nvPr/>
        </p:nvSpPr>
        <p:spPr>
          <a:xfrm rot="18900000">
            <a:off x="7259726" y="4681699"/>
            <a:ext cx="482278" cy="48227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4" name="Arrow: Left-Up 33">
            <a:extLst>
              <a:ext uri="{FF2B5EF4-FFF2-40B4-BE49-F238E27FC236}">
                <a16:creationId xmlns:a16="http://schemas.microsoft.com/office/drawing/2014/main" id="{8F1E4BA9-D5E7-F8C9-76F9-8D94EB40674F}"/>
              </a:ext>
            </a:extLst>
          </p:cNvPr>
          <p:cNvSpPr/>
          <p:nvPr/>
        </p:nvSpPr>
        <p:spPr>
          <a:xfrm rot="18900000">
            <a:off x="9033924" y="5022721"/>
            <a:ext cx="482278" cy="48227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5" name="Arrow: Left-Up 34">
            <a:extLst>
              <a:ext uri="{FF2B5EF4-FFF2-40B4-BE49-F238E27FC236}">
                <a16:creationId xmlns:a16="http://schemas.microsoft.com/office/drawing/2014/main" id="{4CAD24CA-65D6-1A34-975A-AD856D4DB976}"/>
              </a:ext>
            </a:extLst>
          </p:cNvPr>
          <p:cNvSpPr/>
          <p:nvPr/>
        </p:nvSpPr>
        <p:spPr>
          <a:xfrm rot="18900000">
            <a:off x="10774398" y="5438433"/>
            <a:ext cx="482278" cy="482278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30EEE00A-7BA2-2DCB-9B79-1F0C6771D6AF}"/>
              </a:ext>
            </a:extLst>
          </p:cNvPr>
          <p:cNvSpPr/>
          <p:nvPr/>
        </p:nvSpPr>
        <p:spPr>
          <a:xfrm>
            <a:off x="9255717" y="1373557"/>
            <a:ext cx="408317" cy="2987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70C0BE6C-8231-0C32-0DE0-A4B5B25859FB}"/>
              </a:ext>
            </a:extLst>
          </p:cNvPr>
          <p:cNvSpPr/>
          <p:nvPr/>
        </p:nvSpPr>
        <p:spPr>
          <a:xfrm>
            <a:off x="3906610" y="1399991"/>
            <a:ext cx="408317" cy="2987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3A655F0A-2985-24BF-8F37-8457838625D7}"/>
              </a:ext>
            </a:extLst>
          </p:cNvPr>
          <p:cNvSpPr/>
          <p:nvPr/>
        </p:nvSpPr>
        <p:spPr>
          <a:xfrm>
            <a:off x="5745409" y="1408015"/>
            <a:ext cx="408317" cy="2987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FC1BC2A2-56B6-5D6C-6868-C36BED51435C}"/>
              </a:ext>
            </a:extLst>
          </p:cNvPr>
          <p:cNvSpPr/>
          <p:nvPr/>
        </p:nvSpPr>
        <p:spPr>
          <a:xfrm>
            <a:off x="7500563" y="1427939"/>
            <a:ext cx="408317" cy="2987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F452DABC-8075-E724-815F-A82EBE63E2E0}"/>
              </a:ext>
            </a:extLst>
          </p:cNvPr>
          <p:cNvSpPr/>
          <p:nvPr/>
        </p:nvSpPr>
        <p:spPr>
          <a:xfrm>
            <a:off x="5773811" y="3960599"/>
            <a:ext cx="408317" cy="2987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D6B8F6CB-6CD6-CB53-E9C7-DAF84BC15D02}"/>
              </a:ext>
            </a:extLst>
          </p:cNvPr>
          <p:cNvSpPr/>
          <p:nvPr/>
        </p:nvSpPr>
        <p:spPr>
          <a:xfrm>
            <a:off x="7530794" y="3960309"/>
            <a:ext cx="408317" cy="2987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385BAD2-4FE3-FE61-4967-E85A96D495F1}"/>
              </a:ext>
            </a:extLst>
          </p:cNvPr>
          <p:cNvSpPr/>
          <p:nvPr/>
        </p:nvSpPr>
        <p:spPr>
          <a:xfrm>
            <a:off x="9316493" y="3960308"/>
            <a:ext cx="408317" cy="2987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4E9E5CE8-25FC-23DF-8145-101FB365C8D1}"/>
              </a:ext>
            </a:extLst>
          </p:cNvPr>
          <p:cNvSpPr/>
          <p:nvPr/>
        </p:nvSpPr>
        <p:spPr>
          <a:xfrm rot="5400000">
            <a:off x="4949696" y="3833459"/>
            <a:ext cx="299563" cy="29872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3193E85-3936-7099-0BD7-995E2661CAAE}"/>
              </a:ext>
            </a:extLst>
          </p:cNvPr>
          <p:cNvSpPr/>
          <p:nvPr/>
        </p:nvSpPr>
        <p:spPr>
          <a:xfrm>
            <a:off x="5023885" y="3679825"/>
            <a:ext cx="5481082" cy="1853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3FCA776-7FD1-8A06-0361-C6D7CBCCAC08}"/>
              </a:ext>
            </a:extLst>
          </p:cNvPr>
          <p:cNvSpPr/>
          <p:nvPr/>
        </p:nvSpPr>
        <p:spPr>
          <a:xfrm>
            <a:off x="10287000" y="3551496"/>
            <a:ext cx="217968" cy="1283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7550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35A7B-CDDB-7785-4003-9792A6B0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FF2AF-E111-1385-33F5-1167DA596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3 (Display)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C24678-CC9F-DA9E-92FD-6F273AE5E0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430274" cy="4248605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number of entries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 starting memory location of entries are 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both</a:t>
                </a:r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passed through the stack.</a:t>
                </a:r>
                <a:r>
                  <a:rPr lang="en-CA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(Don’t assume the starting memory location to be 0x20001000!)</a:t>
                </a: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CA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will display the sorted entries on MITTTY.</a:t>
                </a:r>
                <a:endParaRPr lang="en-CA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CA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C24678-CC9F-DA9E-92FD-6F273AE5E0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430274" cy="4248605"/>
              </a:xfrm>
              <a:blipFill>
                <a:blip r:embed="rId2"/>
                <a:stretch>
                  <a:fillRect t="-200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8742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016D2-4F3D-7EE2-8F1E-CC2A4CFFC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2BFB1-E827-5B1A-2750-6F5B13F17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provided subroutines (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…) overwrite registers </a:t>
            </a:r>
            <a:r>
              <a:rPr lang="en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r0-r3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Use registers r4-r12 to store your data.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each subroutine, preserve the return address (r14) and register values (r0-r12) by pushing to and popping from the stack.</a:t>
            </a:r>
          </a:p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lab is done in three weeks. Next week, TAs will not be available but you can still use the lab equipment.</a:t>
            </a: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243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913</Words>
  <Application>Microsoft Office PowerPoint</Application>
  <PresentationFormat>Widescreen</PresentationFormat>
  <Paragraphs>141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Times New Roman</vt:lpstr>
      <vt:lpstr>Office Theme</vt:lpstr>
      <vt:lpstr>ECE 212 Lab 3</vt:lpstr>
      <vt:lpstr>Objectives</vt:lpstr>
      <vt:lpstr>Overall Procedure</vt:lpstr>
      <vt:lpstr>Displaying Message on MITTTY</vt:lpstr>
      <vt:lpstr>Getting Inputs on MITTTY</vt:lpstr>
      <vt:lpstr>Part 1 (WelcomePrompt)</vt:lpstr>
      <vt:lpstr>Working with Stack</vt:lpstr>
      <vt:lpstr>Working with Stack</vt:lpstr>
      <vt:lpstr>Passing a value on top of the stack</vt:lpstr>
      <vt:lpstr>Part 2 (Sort)</vt:lpstr>
      <vt:lpstr>Bubble Sort</vt:lpstr>
      <vt:lpstr>Part 3 (Display)</vt:lpstr>
      <vt:lpstr>Important!!!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Seyedkhashayar Hashemi</dc:creator>
  <cp:lastModifiedBy>Seyedkhashayar Hashemi</cp:lastModifiedBy>
  <cp:revision>5</cp:revision>
  <dcterms:created xsi:type="dcterms:W3CDTF">2026-02-24T21:29:47Z</dcterms:created>
  <dcterms:modified xsi:type="dcterms:W3CDTF">2026-03-10T21:52:52Z</dcterms:modified>
</cp:coreProperties>
</file>