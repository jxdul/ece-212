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9" r:id="rId5"/>
    <p:sldId id="258" r:id="rId6"/>
    <p:sldId id="260" r:id="rId7"/>
    <p:sldId id="262" r:id="rId8"/>
    <p:sldId id="261" r:id="rId9"/>
    <p:sldId id="264" r:id="rId10"/>
    <p:sldId id="265" r:id="rId11"/>
    <p:sldId id="267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7" autoAdjust="0"/>
    <p:restoredTop sz="94660"/>
  </p:normalViewPr>
  <p:slideViewPr>
    <p:cSldViewPr snapToGrid="0">
      <p:cViewPr>
        <p:scale>
          <a:sx n="87" d="100"/>
          <a:sy n="87" d="100"/>
        </p:scale>
        <p:origin x="57" y="4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9D54-60F1-6710-F104-23058E583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DC3907-3194-12DA-957E-5B7297070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AC2E-102C-DD5E-9069-919697382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BC9D-9487-FF83-A1A9-654F7E7DD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BF85D-F57D-917A-9D59-61D98786B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6479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E96C4-0B94-673B-6F9F-47309550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ED0CB-4478-D6A5-5DCA-9454E5353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A13E4-14DC-348B-3F94-81FCBAAB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E0C35-D2E4-755F-A135-57228C0A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F30C9-6A6C-7899-3BCF-36A5F23B2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1512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E7917-4FF6-0DE7-286B-8E60FCC2F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CB9DE-B55C-D2BF-9863-5FF6B12F8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9DFA8-C4D7-0932-6D39-8BE9BAF1A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77BB8-92AD-2F90-931C-D1E9934D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48748-2695-F413-4661-4D49C306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8340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BBEA8-9C86-95CD-8C75-ED52BF7AD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F042F-746B-3BE0-04F9-12BE8964C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C37B0-6889-457B-8A19-FABC75CF9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0F3D5-ECA0-C262-9794-707DDA12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AFEA7-07D8-9F6C-C3B6-79B5FFBA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1A44C-6633-E55F-13C8-AA8F7C8A2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507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A54F-8F40-C71B-C7A1-43A3C8C74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87DAE-1D0B-D008-11DA-8E9A33375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8F257-1127-0125-EC53-C98E52D46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08805-1B46-057A-74DE-671A94328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5A4A9E-821D-0555-6F3D-1A7CB7D9E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03E7C6-4B3A-5898-7849-2BE4DDF3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16C5B5-EAF4-0879-15AE-8C1BBE83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685CFE-649E-5C80-ACBE-30308B16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1191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5355-8FA9-A0E8-5207-45B7A2198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B92FC-0720-B101-016F-6469CD0F8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12A46-AC1B-C5A7-5711-E437806AA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83EC5-4676-A9AF-853B-B6199F49D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385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A077B-CAC1-5C23-3D8F-862F2ABBA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E3688-F9A4-A6F8-2A06-13E8D349A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E42FF-E6B3-FF62-A0E2-C261EA378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9577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F7222-A6B2-3BBC-5633-ED12DD22D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DFED3-D61E-CE51-6365-F8FB3CB54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DC77B-96CB-24CD-5EC5-ED6A4BC6A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89F8D-445C-656A-D8DF-4474B8959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D31B1-7260-0A7D-3A98-D65D36E39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FF90D-381A-0966-7A8A-99C3CE6D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2426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8917B-4E89-1649-F0DB-B6A2641F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B4EE30-2530-B204-F178-F6C352727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57FF8-EEC3-DFC5-B8F9-13156CFBB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C990A-48C1-B7B6-BE25-919E038B7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7C337-DBA7-7C07-3C8F-6B7E51AD9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19D13-8C3C-D67D-5E96-B248D88D7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4246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55DD3-22E9-5109-6305-1940FE678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D33D5-DF72-2840-BFE9-B40F9C2E8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82CD4-AA2D-DB3C-C24B-76F98120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15263-57C0-D4AB-3D0B-24D942C6B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A05EC-C2E7-3283-7E6D-2331CD3D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1908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220BE2-AEEE-CE59-8628-BFD513DF82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7D6F8-FCBA-6FB9-4C6A-210E1B22E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A2689-79F5-F83B-E027-738B4575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D90CC-3E03-DFBE-11E8-FD9BE6AF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B293C-7162-8DFE-229E-860BDDF28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9467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16C8C-6DA6-24D7-E4F0-7E5C4AB90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4AE23-E841-D677-73C5-ED5BCC66D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D17A6-67B2-E0CB-B5C2-AC182BC6A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9879C-891A-4992-BDA7-2A548F0EA948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D9D4D-FA0F-1402-9E1A-8CD8DF4B5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8D90E-B1AA-F257-C80C-FC4122C83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7066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E8F18-7B31-2DA6-2FA4-8097DA7A88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ECE 212 Lab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40DDAD-E39C-08F2-58C0-48AA59F2AB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Khashayar Hashemi</a:t>
            </a:r>
          </a:p>
        </p:txBody>
      </p:sp>
    </p:spTree>
    <p:extLst>
      <p:ext uri="{BB962C8B-B14F-4D97-AF65-F5344CB8AC3E}">
        <p14:creationId xmlns:p14="http://schemas.microsoft.com/office/powerpoint/2010/main" val="3356953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311A-5C65-DFA8-AE2A-0B4D67FD3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30C74-4BF5-AE84-5952-C2388BA64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familiar with different addressing modes.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to multiply and divide in assembly.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about arithmetic and logical shifting</a:t>
            </a: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162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B721-BC54-1A85-8D22-D63CCDEB4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2.A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7CBF49-E85C-7092-E811-246331E9E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The goal is to add the values of two arrays of integers and store the results in another memory location.</a:t>
            </a:r>
          </a:p>
          <a:p>
            <a:pPr marL="0" indent="0">
              <a:buNone/>
            </a:pP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Procedure: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the next value (word) from the first array.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the next value from the second array.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 two values.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result in the next memory. 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the above procedure. </a:t>
            </a:r>
          </a:p>
        </p:txBody>
      </p:sp>
    </p:spTree>
    <p:extLst>
      <p:ext uri="{BB962C8B-B14F-4D97-AF65-F5344CB8AC3E}">
        <p14:creationId xmlns:p14="http://schemas.microsoft.com/office/powerpoint/2010/main" val="1713855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C72A-02D1-10A7-D073-9EE7A363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read the arrays?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BA3DE-B71C-FB73-CA33-F38538E57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location 0x20001004 contains the address of the first array. (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0x20001004 itself is not the address of the first array!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location 0x20001008 contains the address of the second array. (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0x20001008 itself is not the address of the second array!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you will have to use “</a:t>
            </a: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twice. Once to fetch the address, and another time to get the value</a:t>
            </a:r>
          </a:p>
          <a:p>
            <a:endParaRPr lang="en-C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138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38BA8-B8D3-E7FE-C987-BE5151054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2.A (Part 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9FB620-2904-B9D2-1863-1990672C5A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will use the 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register indirect with offset 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addressing mode for loading and storing. 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</a:p>
              <a:p>
                <a:pPr marL="0" indent="0">
                  <a:buNone/>
                </a:pP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Ldr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r0, [r1,#4]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Loads from memory location r1+4 (r1 remains unchanged after this instruction)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 r1, [r2,#4]</a:t>
                </a:r>
                <a:r>
                  <a:rPr lang="en-CA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Stores at memory location r2+4 (r2 remains unchanged after this instruction)</a:t>
                </a:r>
              </a:p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loop required. Only do the addition for the first 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three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entries of the arrays manually. </a:t>
                </a:r>
              </a:p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Memory location 0x2000100C contains the address of where to store the sum for this mode. (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0x2000100C itself is not the address of the output!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9FB620-2904-B9D2-1863-1990672C5A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754" b="-42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924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E3C0A-A33B-6E5D-0F95-4E3A44F57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93838-F5FD-E69C-3E9A-06258EEB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2.A (Part 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60F898-B910-098A-4152-88DBD4765C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will use the 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indexed register indirect 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addressing mode for loading and storing. 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</a:p>
              <a:p>
                <a:pPr marL="0" indent="0">
                  <a:buNone/>
                </a:pP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Ldr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r0, [r1,r2]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Loads from memory location r1+r2 (r1 remains unchanged after this instruction)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 r1, [r2,r3]</a:t>
                </a:r>
                <a:r>
                  <a:rPr lang="en-CA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Stores at memory location r2+r3 (r2 remains unchanged after this instruction)</a:t>
                </a:r>
              </a:p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loop has to be used. Arrays have the same size and the size of array is given at memory location 0x20001000.</a:t>
                </a:r>
              </a:p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Memory location 0x20001010 contains the address of where to store the sum for this mode. (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0x20001010 itself is not the address of the output!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60F898-B910-098A-4152-88DBD4765C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275" b="-42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303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1E985-F31D-25E1-AF68-939FAD0C6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FF970-142A-0B7A-612C-7F58CC6C0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2.A (Part 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81CF74-67D1-2387-14CD-25DCDA36A9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will use the </a:t>
                </a:r>
                <a:r>
                  <a:rPr lang="en-CA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Postincrement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register indirect 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addressing mode for loading and storing. 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</a:p>
              <a:p>
                <a:pPr marL="0" indent="0">
                  <a:buNone/>
                </a:pP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Ldr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r0, [r1],#4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Loads from memory location r1 (r1 is incremented by 4 after this instruction)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 r1, [r2], #4</a:t>
                </a:r>
                <a:r>
                  <a:rPr lang="en-CA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Stores at memory location r2 (r2 is incremented by 4 after this instruction)</a:t>
                </a:r>
              </a:p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loop has to be used. Arrays have the same size and the size of array is given at memory location 0x20001000.</a:t>
                </a:r>
              </a:p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Memory location 0x20001014 contains the address of where to store the sum for this mode. (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0x20001014 itself is not the address of the output!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81CF74-67D1-2387-14CD-25DCDA36A9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42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2176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B4D9493-54CA-C911-B591-4115772F576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algn="ctr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ARMv7-M PQR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Opcode Reference</a:t>
                </a:r>
                <a:b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B4D9493-54CA-C911-B591-4115772F57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290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895E224-D844-7A3D-9F50-45528D7CD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83696"/>
            <a:ext cx="12192000" cy="45361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BDDDB52-38F0-031D-2256-FF571BFF4936}"/>
              </a:ext>
            </a:extLst>
          </p:cNvPr>
          <p:cNvSpPr/>
          <p:nvPr/>
        </p:nvSpPr>
        <p:spPr>
          <a:xfrm>
            <a:off x="5174299" y="1878079"/>
            <a:ext cx="6537687" cy="547545"/>
          </a:xfrm>
          <a:prstGeom prst="rect">
            <a:avLst/>
          </a:prstGeom>
          <a:noFill/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3DD14-EFCC-D685-AF56-1A89E4B9C50F}"/>
              </a:ext>
            </a:extLst>
          </p:cNvPr>
          <p:cNvSpPr txBox="1"/>
          <p:nvPr/>
        </p:nvSpPr>
        <p:spPr>
          <a:xfrm>
            <a:off x="3652124" y="1967184"/>
            <a:ext cx="1297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Part 1</a:t>
            </a: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DCDA2F0B-49C1-4AAD-D3D5-1C5446E17668}"/>
              </a:ext>
            </a:extLst>
          </p:cNvPr>
          <p:cNvSpPr/>
          <p:nvPr/>
        </p:nvSpPr>
        <p:spPr>
          <a:xfrm>
            <a:off x="4369408" y="1916406"/>
            <a:ext cx="736448" cy="470889"/>
          </a:xfrm>
          <a:prstGeom prst="left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7A2BB5-7385-0A8C-5CB4-23BA5CFAB5D8}"/>
              </a:ext>
            </a:extLst>
          </p:cNvPr>
          <p:cNvSpPr/>
          <p:nvPr/>
        </p:nvSpPr>
        <p:spPr>
          <a:xfrm>
            <a:off x="5174299" y="4063048"/>
            <a:ext cx="6537687" cy="547545"/>
          </a:xfrm>
          <a:prstGeom prst="rect">
            <a:avLst/>
          </a:prstGeom>
          <a:noFill/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5E5B56-BCD1-AF9F-527D-50B6B59AD2D8}"/>
              </a:ext>
            </a:extLst>
          </p:cNvPr>
          <p:cNvSpPr txBox="1"/>
          <p:nvPr/>
        </p:nvSpPr>
        <p:spPr>
          <a:xfrm>
            <a:off x="3652124" y="4152153"/>
            <a:ext cx="1297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Part 3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B239E186-5F4A-B084-9CA7-0A6FDE5CEABD}"/>
              </a:ext>
            </a:extLst>
          </p:cNvPr>
          <p:cNvSpPr/>
          <p:nvPr/>
        </p:nvSpPr>
        <p:spPr>
          <a:xfrm>
            <a:off x="4369408" y="4101375"/>
            <a:ext cx="736448" cy="470889"/>
          </a:xfrm>
          <a:prstGeom prst="left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B2940F-80D8-52A2-A284-A42B0B9BB9DB}"/>
              </a:ext>
            </a:extLst>
          </p:cNvPr>
          <p:cNvSpPr/>
          <p:nvPr/>
        </p:nvSpPr>
        <p:spPr>
          <a:xfrm>
            <a:off x="5174299" y="5738798"/>
            <a:ext cx="6537687" cy="681025"/>
          </a:xfrm>
          <a:prstGeom prst="rect">
            <a:avLst/>
          </a:prstGeom>
          <a:noFill/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4593EB-E979-D43D-323A-5F32E341FB73}"/>
              </a:ext>
            </a:extLst>
          </p:cNvPr>
          <p:cNvSpPr txBox="1"/>
          <p:nvPr/>
        </p:nvSpPr>
        <p:spPr>
          <a:xfrm>
            <a:off x="3652124" y="5827903"/>
            <a:ext cx="1297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Part 2</a:t>
            </a: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BF5DCFD9-F877-2942-8332-1CA78811CCF9}"/>
              </a:ext>
            </a:extLst>
          </p:cNvPr>
          <p:cNvSpPr/>
          <p:nvPr/>
        </p:nvSpPr>
        <p:spPr>
          <a:xfrm>
            <a:off x="4369408" y="5777125"/>
            <a:ext cx="736448" cy="470889"/>
          </a:xfrm>
          <a:prstGeom prst="left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536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695D8-F036-3458-CBB6-6AE8F76B1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71C45-80C1-B574-F730-E7352A48A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2.B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16618D49-A51F-6674-5EAB-04C562D72F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Objective: Given X and Y data points, the goal is to calculate area underneath Y=f(x) using the Trapezoidal rule.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Trapezoidal rule: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sup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≈</m:t>
                          </m:r>
                          <m:nary>
                            <m:naryPr>
                              <m:chr m:val="∑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)(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))</m:t>
                                  </m:r>
                                </m:num>
                                <m:den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C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the given X data points,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always 1,2, or 4.</a:t>
                </a: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16618D49-A51F-6674-5EAB-04C562D72F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217" t="-3361" b="-364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1165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3978F-3F46-184F-15D2-8BB031F9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Procedure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F3F52D-AB43-A845-A55B-16DC0D90E6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Fetch the X data points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Fetch the Y data points (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Multiply (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Accumulate the result in a register.</a:t>
                </a:r>
              </a:p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Repeat the above procedure until no data points remain.</a:t>
                </a:r>
              </a:p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 the final result in memory.</a:t>
                </a:r>
              </a:p>
              <a:p>
                <a:pPr marL="0" indent="0">
                  <a:buNone/>
                </a:pPr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F3F52D-AB43-A845-A55B-16DC0D90E6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4904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C8D84-3470-1EBA-ECEA-EBE6F3E86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 and Division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7227BA-CF1F-31D5-883D-796705CE29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92804" cy="4351338"/>
              </a:xfrm>
            </p:spPr>
            <p:txBody>
              <a:bodyPr>
                <a:normAutofit/>
              </a:bodyPr>
              <a:lstStyle/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multiplication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have to shift the value to the left by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bits: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LSL r0,#2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Multiplies r0 by 4.</a:t>
                </a:r>
              </a:p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division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have to shift the value to the right by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bits: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LSR r0,#1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divides r0 by 2. (Doesn’t preserve the sign of the number).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ASR r0,#1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divides r0 by 2. (Preserves the sign of the number).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ASRS r0,#1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divides r0 by 2 and updates the carry flag (C). </a:t>
                </a:r>
              </a:p>
              <a:p>
                <a:pPr marL="0" indent="0">
                  <a:buNone/>
                </a:pPr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7227BA-CF1F-31D5-883D-796705CE29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92804" cy="4351338"/>
              </a:xfrm>
              <a:blipFill>
                <a:blip r:embed="rId2"/>
                <a:stretch>
                  <a:fillRect l="-1154" t="-238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2665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016D2-4F3D-7EE2-8F1E-CC2A4CFFC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Important!!!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C2BFB1-E827-5B1A-2750-6F5B13F17C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addition to test cases (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Datastorages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4,5, and 6), we will do few extra tests. Your code should have the following properties:</a:t>
                </a:r>
              </a:p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Your code should round up the final result it calculates. For example if the total summation is 22.5, the value 23 should be stored in memory.</a:t>
                </a:r>
              </a:p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Your code should be able to handle Y data points with negative value. Be careful about preserving the sign when dividing.</a:t>
                </a:r>
              </a:p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Dividing by 2 induces error if the operand is odd. Use the carry flag and carry operations to avoid such error.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ADC r3,#0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Adds the value in carry flag to register r3.</a:t>
                </a:r>
              </a:p>
              <a:p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C2BFB1-E827-5B1A-2750-6F5B13F17C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361" r="-139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0243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E198A-C0A2-D5BC-5A1B-23A7BC33E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8CC93-18C0-BE4A-5FEC-EC918E4AE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is available on canvas, you can use it along with the manual.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demo this week or next week during your session without any deduction.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don’t manage to finish by the end of your session next week, you can still do your demo in another session of the lab but there will be a 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mark deduction per day.</a:t>
            </a:r>
          </a:p>
        </p:txBody>
      </p:sp>
    </p:spTree>
    <p:extLst>
      <p:ext uri="{BB962C8B-B14F-4D97-AF65-F5344CB8AC3E}">
        <p14:creationId xmlns:p14="http://schemas.microsoft.com/office/powerpoint/2010/main" val="1450567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966</Words>
  <Application>Microsoft Office PowerPoint</Application>
  <PresentationFormat>Widescreen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Times New Roman</vt:lpstr>
      <vt:lpstr>Office Theme</vt:lpstr>
      <vt:lpstr>ECE 212 Lab 2</vt:lpstr>
      <vt:lpstr>Objectives</vt:lpstr>
      <vt:lpstr>Lab 2.A</vt:lpstr>
      <vt:lpstr>How to read the arrays?</vt:lpstr>
      <vt:lpstr>Lab 2.A (Part 1)</vt:lpstr>
      <vt:lpstr>Lab 2.A (Part 2)</vt:lpstr>
      <vt:lpstr>Lab 2.A (Part 3)</vt:lpstr>
      <vt:lpstr>ARMv7-M PQR → Opcode Reference </vt:lpstr>
      <vt:lpstr>Lab 2.B</vt:lpstr>
      <vt:lpstr>Overall Procedure</vt:lpstr>
      <vt:lpstr>Multiplication and Division</vt:lpstr>
      <vt:lpstr>Important!!!</vt:lpstr>
      <vt:lpstr>Quick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Seyedkhashayar Hashemi</dc:creator>
  <cp:lastModifiedBy>Seyedkhashayar Hashemi</cp:lastModifiedBy>
  <cp:revision>2</cp:revision>
  <dcterms:created xsi:type="dcterms:W3CDTF">2026-02-24T21:29:47Z</dcterms:created>
  <dcterms:modified xsi:type="dcterms:W3CDTF">2026-02-24T23:10:16Z</dcterms:modified>
</cp:coreProperties>
</file>